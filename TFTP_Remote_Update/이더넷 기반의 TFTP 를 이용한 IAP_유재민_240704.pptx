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ContentType="application/vnd.openxmlformats-officedocument.custom-properties+xml" PartName="/docProps/custom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Relationship Id="rId5" Target="docProps/custom.xml" Type="http://schemas.openxmlformats.org/officeDocument/2006/relationships/custom-properties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451" r:id="rId3"/>
    <p:sldId id="457" r:id="rId4"/>
    <p:sldId id="458" r:id="rId5"/>
    <p:sldId id="459" r:id="rId6"/>
    <p:sldId id="460" r:id="rId7"/>
    <p:sldId id="461" r:id="rId8"/>
    <p:sldId id="462" r:id="rId9"/>
    <p:sldId id="452" r:id="rId10"/>
    <p:sldId id="416" r:id="rId11"/>
  </p:sldIdLst>
  <p:sldSz cx="9144000" cy="6858000" type="screen4x3"/>
  <p:notesSz cx="7102475" cy="10233025"/>
  <p:defaultTextStyle>
    <a:defPPr>
      <a:defRPr lang="en-US"/>
    </a:defPPr>
    <a:lvl1pPr marL="0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08109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16220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24329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32439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40549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48659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56768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64878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B3B"/>
    <a:srgbClr val="8B73A9"/>
    <a:srgbClr val="0066FF"/>
    <a:srgbClr val="6699FF"/>
    <a:srgbClr val="5353FF"/>
    <a:srgbClr val="006699"/>
    <a:srgbClr val="3333FF"/>
    <a:srgbClr val="3366FF"/>
    <a:srgbClr val="0066CC"/>
    <a:srgbClr val="C1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4" autoAdjust="0"/>
    <p:restoredTop sz="92435" autoAdjust="0"/>
  </p:normalViewPr>
  <p:slideViewPr>
    <p:cSldViewPr>
      <p:cViewPr varScale="1">
        <p:scale>
          <a:sx n="102" d="100"/>
          <a:sy n="102" d="100"/>
        </p:scale>
        <p:origin x="1014" y="108"/>
      </p:cViewPr>
      <p:guideLst>
        <p:guide orient="horz" pos="215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513" cy="513778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2304" y="1"/>
            <a:ext cx="3078513" cy="513778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33B28AB5-7791-4F79-907D-3BD6A500B770}" type="datetimeFigureOut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19247"/>
            <a:ext cx="3078513" cy="513778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2304" y="9719247"/>
            <a:ext cx="3078513" cy="513778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71A9B683-47B7-46B0-8447-A9BE6FF409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5203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7739" cy="51165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093" y="2"/>
            <a:ext cx="3077739" cy="51165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AF468E9B-7D25-452D-9617-0F081841C501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6763"/>
            <a:ext cx="5114925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248" y="4860688"/>
            <a:ext cx="5681980" cy="4604861"/>
          </a:xfrm>
          <a:prstGeom prst="rect">
            <a:avLst/>
          </a:prstGeom>
        </p:spPr>
        <p:txBody>
          <a:bodyPr vert="horz" lIns="94768" tIns="47384" rIns="94768" bIns="47384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19600"/>
            <a:ext cx="3077739" cy="51165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093" y="9719600"/>
            <a:ext cx="3077739" cy="51165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14F9D757-8569-4010-A717-8D4A56A16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81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08109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16220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24329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632439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040549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448659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856768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264878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9D757-8569-4010-A717-8D4A56A163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198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9D757-8569-4010-A717-8D4A56A163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38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9D757-8569-4010-A717-8D4A56A163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1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9D757-8569-4010-A717-8D4A56A163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441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9D757-8569-4010-A717-8D4A56A163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884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9D757-8569-4010-A717-8D4A56A163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2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9D757-8569-4010-A717-8D4A56A163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775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연결선 23"/>
          <p:cNvCxnSpPr>
            <a:cxnSpLocks/>
          </p:cNvCxnSpPr>
          <p:nvPr userDrawn="1"/>
        </p:nvCxnSpPr>
        <p:spPr>
          <a:xfrm>
            <a:off x="251520" y="720000"/>
            <a:ext cx="889248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제목 1"/>
          <p:cNvSpPr>
            <a:spLocks noGrp="1"/>
          </p:cNvSpPr>
          <p:nvPr>
            <p:ph type="title"/>
          </p:nvPr>
        </p:nvSpPr>
        <p:spPr>
          <a:xfrm>
            <a:off x="251520" y="0"/>
            <a:ext cx="8892480" cy="720000"/>
          </a:xfrm>
          <a:prstGeom prst="rect">
            <a:avLst/>
          </a:prstGeom>
        </p:spPr>
        <p:txBody>
          <a:bodyPr lIns="180000" tIns="0" rIns="0" bIns="0" anchor="ctr" anchorCtr="0"/>
          <a:lstStyle>
            <a:lvl1pPr algn="l"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533915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0"/>
            <a:ext cx="9144000" cy="540000"/>
          </a:xfrm>
          <a:prstGeom prst="rect">
            <a:avLst/>
          </a:prstGeom>
          <a:noFill/>
        </p:spPr>
        <p:txBody>
          <a:bodyPr wrap="none" lIns="0" tIns="0" rIns="132923" bIns="0" rtlCol="0" anchor="ctr" anchorCtr="0">
            <a:noAutofit/>
          </a:bodyPr>
          <a:lstStyle/>
          <a:p>
            <a:pPr algn="r"/>
            <a:r>
              <a:rPr lang="en-US" altLang="ko-KR" sz="1477" i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World Class Flame &amp; Gas Detector</a:t>
            </a:r>
            <a:endParaRPr lang="ko-KR" altLang="en-US" sz="1477" i="1" dirty="0">
              <a:solidFill>
                <a:schemeClr val="tx1">
                  <a:lumMod val="65000"/>
                  <a:lumOff val="3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10"/>
          </p:nvPr>
        </p:nvSpPr>
        <p:spPr>
          <a:xfrm>
            <a:off x="8532000" y="6480000"/>
            <a:ext cx="612000" cy="3600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algn="r"/>
            <a:fld id="{7FD1AA16-12F7-42F9-8F21-27EC2C58385C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690619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ownloads\logo.jpg">
            <a:extLst>
              <a:ext uri="{FF2B5EF4-FFF2-40B4-BE49-F238E27FC236}">
                <a16:creationId xmlns:a16="http://schemas.microsoft.com/office/drawing/2014/main" id="{8D374B05-B2CB-460D-A7E6-ABA5BD37CA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lum bright="17000"/>
          </a:blip>
          <a:srcRect/>
          <a:stretch>
            <a:fillRect/>
          </a:stretch>
        </p:blipFill>
        <p:spPr bwMode="auto">
          <a:xfrm>
            <a:off x="7668344" y="6353569"/>
            <a:ext cx="1259632" cy="394495"/>
          </a:xfrm>
          <a:prstGeom prst="rect">
            <a:avLst/>
          </a:prstGeom>
          <a:noFill/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27C7BC3-8858-46EB-84AE-CC4D3D089B22}"/>
              </a:ext>
            </a:extLst>
          </p:cNvPr>
          <p:cNvSpPr/>
          <p:nvPr userDrawn="1"/>
        </p:nvSpPr>
        <p:spPr>
          <a:xfrm>
            <a:off x="0" y="0"/>
            <a:ext cx="251520" cy="6858000"/>
          </a:xfrm>
          <a:prstGeom prst="rect">
            <a:avLst/>
          </a:prstGeom>
          <a:solidFill>
            <a:srgbClr val="FF2300"/>
          </a:solidFill>
          <a:ln>
            <a:solidFill>
              <a:srgbClr val="FF2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2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154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753448" rtl="0" eaLnBrk="1" latinLnBrk="0" hangingPunct="1">
        <a:spcBef>
          <a:spcPct val="0"/>
        </a:spcBef>
        <a:buNone/>
        <a:defRPr sz="3692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</p:titleStyle>
    <p:bodyStyle>
      <a:lvl1pPr marL="282543" indent="-282543" algn="l" defTabSz="753448" rtl="0" eaLnBrk="1" latinLnBrk="0" hangingPunct="1">
        <a:spcBef>
          <a:spcPct val="20000"/>
        </a:spcBef>
        <a:buFont typeface="Arial" panose="020B0604020202020204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1pPr>
      <a:lvl2pPr marL="612176" indent="-235452" algn="l" defTabSz="753448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41809" indent="-188362" algn="l" defTabSz="753448" rtl="0" eaLnBrk="1" latinLnBrk="0" hangingPunct="1">
        <a:spcBef>
          <a:spcPct val="20000"/>
        </a:spcBef>
        <a:buFont typeface="Arial" panose="020B0604020202020204" pitchFamily="34" charset="0"/>
        <a:buChar char="•"/>
        <a:defRPr sz="1939" kern="1200">
          <a:solidFill>
            <a:schemeClr val="tx1"/>
          </a:solidFill>
          <a:latin typeface="+mn-lt"/>
          <a:ea typeface="+mn-ea"/>
          <a:cs typeface="+mn-cs"/>
        </a:defRPr>
      </a:lvl3pPr>
      <a:lvl4pPr marL="1318532" indent="-188362" algn="l" defTabSz="753448" rtl="0" eaLnBrk="1" latinLnBrk="0" hangingPunct="1">
        <a:spcBef>
          <a:spcPct val="20000"/>
        </a:spcBef>
        <a:buFont typeface="Arial" panose="020B0604020202020204" pitchFamily="34" charset="0"/>
        <a:buChar char="–"/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95257" indent="-188362" algn="l" defTabSz="753448" rtl="0" eaLnBrk="1" latinLnBrk="0" hangingPunct="1">
        <a:spcBef>
          <a:spcPct val="20000"/>
        </a:spcBef>
        <a:buFont typeface="Arial" panose="020B0604020202020204" pitchFamily="34" charset="0"/>
        <a:buChar char="»"/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071982" indent="-188362" algn="l" defTabSz="753448" rtl="0" eaLnBrk="1" latinLnBrk="0" hangingPunct="1">
        <a:spcBef>
          <a:spcPct val="20000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448706" indent="-188362" algn="l" defTabSz="753448" rtl="0" eaLnBrk="1" latinLnBrk="0" hangingPunct="1">
        <a:spcBef>
          <a:spcPct val="20000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825431" indent="-188362" algn="l" defTabSz="753448" rtl="0" eaLnBrk="1" latinLnBrk="0" hangingPunct="1">
        <a:spcBef>
          <a:spcPct val="20000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202154" indent="-188362" algn="l" defTabSz="753448" rtl="0" eaLnBrk="1" latinLnBrk="0" hangingPunct="1">
        <a:spcBef>
          <a:spcPct val="20000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1pPr>
      <a:lvl2pPr marL="376723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2pPr>
      <a:lvl3pPr marL="753448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3pPr>
      <a:lvl4pPr marL="1130172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4pPr>
      <a:lvl5pPr marL="1506895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5pPr>
      <a:lvl6pPr marL="1883620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6pPr>
      <a:lvl7pPr marL="2260344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7pPr>
      <a:lvl8pPr marL="2637068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8pPr>
      <a:lvl9pPr marL="3013791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t.com/content/ccc/resource/technical/document/user_manual/79/6e/5f/d4/5c/25/43/96/DM00103145.pdf/files/DM00103145.pdf/jcr:content/translations/en.DM00103145.pdf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/>
        </p:nvSpPr>
        <p:spPr bwMode="auto">
          <a:xfrm>
            <a:off x="1" y="4852569"/>
            <a:ext cx="9144000" cy="232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 anchorCtr="0"/>
          <a:lstStyle>
            <a:lvl1pPr latinLnBrk="1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ko-KR" altLang="en-US" sz="1846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8" name="제목 1"/>
          <p:cNvSpPr>
            <a:spLocks noGrp="1"/>
          </p:cNvSpPr>
          <p:nvPr/>
        </p:nvSpPr>
        <p:spPr bwMode="auto">
          <a:xfrm>
            <a:off x="251520" y="4243244"/>
            <a:ext cx="8892481" cy="265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latinLnBrk="1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ko-KR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제품기술</a:t>
            </a:r>
            <a:r>
              <a:rPr lang="en-US" altLang="ko-KR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</a:t>
            </a:r>
            <a:r>
              <a:rPr lang="ko-KR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연구소</a:t>
            </a:r>
          </a:p>
        </p:txBody>
      </p:sp>
      <p:sp>
        <p:nvSpPr>
          <p:cNvPr id="19" name="제목 1"/>
          <p:cNvSpPr>
            <a:spLocks noGrp="1"/>
          </p:cNvSpPr>
          <p:nvPr/>
        </p:nvSpPr>
        <p:spPr bwMode="auto">
          <a:xfrm>
            <a:off x="251520" y="1628800"/>
            <a:ext cx="8892480" cy="49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342" tIns="37672" rIns="75342" bIns="37672" anchor="ctr"/>
          <a:lstStyle>
            <a:lvl1pPr latinLnBrk="1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ko-KR" altLang="en-US" sz="4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이더넷 기반의 </a:t>
            </a:r>
            <a:r>
              <a:rPr lang="en-US" altLang="ko-KR" sz="4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TFTP </a:t>
            </a:r>
            <a:r>
              <a:rPr lang="ko-KR" altLang="en-US" sz="4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를 이용한 </a:t>
            </a:r>
            <a:r>
              <a:rPr lang="en-US" altLang="ko-KR" sz="4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IAP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3EE010-0285-778C-9E8E-427B4AD931AC}"/>
              </a:ext>
            </a:extLst>
          </p:cNvPr>
          <p:cNvSpPr>
            <a:spLocks noGrp="1"/>
          </p:cNvSpPr>
          <p:nvPr/>
        </p:nvSpPr>
        <p:spPr bwMode="auto">
          <a:xfrm>
            <a:off x="250323" y="4747300"/>
            <a:ext cx="8892481" cy="265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latinLnBrk="1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ko-KR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유 재 민</a:t>
            </a:r>
          </a:p>
        </p:txBody>
      </p:sp>
    </p:spTree>
    <p:extLst>
      <p:ext uri="{BB962C8B-B14F-4D97-AF65-F5344CB8AC3E}">
        <p14:creationId xmlns:p14="http://schemas.microsoft.com/office/powerpoint/2010/main" val="2561131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추진배경 및 개요</a:t>
            </a: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DE814A92-416C-6B7F-1A09-37401194C8C4}"/>
              </a:ext>
            </a:extLst>
          </p:cNvPr>
          <p:cNvSpPr txBox="1">
            <a:spLocks/>
          </p:cNvSpPr>
          <p:nvPr/>
        </p:nvSpPr>
        <p:spPr>
          <a:xfrm>
            <a:off x="395536" y="1050645"/>
            <a:ext cx="8748464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800" dirty="0"/>
              <a:t>▶ 고객사 요청으로 </a:t>
            </a:r>
            <a:r>
              <a:rPr lang="en-US" altLang="ko-KR" sz="1800" dirty="0"/>
              <a:t>Ethernet </a:t>
            </a:r>
            <a:r>
              <a:rPr lang="ko-KR" altLang="en-US" sz="1800" dirty="0"/>
              <a:t>기반 </a:t>
            </a:r>
            <a:r>
              <a:rPr lang="en-US" altLang="ko-KR" sz="1800" dirty="0"/>
              <a:t>Smart Driver </a:t>
            </a:r>
            <a:r>
              <a:rPr lang="ko-KR" altLang="en-US" sz="1800" dirty="0"/>
              <a:t>장비에서 </a:t>
            </a:r>
            <a:r>
              <a:rPr lang="en-US" altLang="ko-KR" sz="1800" dirty="0"/>
              <a:t>GTM </a:t>
            </a:r>
            <a:r>
              <a:rPr lang="ko-KR" altLang="en-US" sz="1800" dirty="0"/>
              <a:t>으로 파일을 전송하여</a:t>
            </a:r>
            <a:endParaRPr lang="en-US" altLang="ko-KR" sz="1800" dirty="0"/>
          </a:p>
        </p:txBody>
      </p:sp>
      <p:pic>
        <p:nvPicPr>
          <p:cNvPr id="3" name="그림 2" descr="손목시계이(가) 표시된 사진&#10;&#10;자동 생성된 설명">
            <a:extLst>
              <a:ext uri="{FF2B5EF4-FFF2-40B4-BE49-F238E27FC236}">
                <a16:creationId xmlns:a16="http://schemas.microsoft.com/office/drawing/2014/main" id="{2EDC75EF-A0F0-4E1F-10AE-09BDCB2B94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636912"/>
            <a:ext cx="1904612" cy="1656184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D2D96549-B17C-17BA-BEC8-43CA022E8A8B}"/>
              </a:ext>
            </a:extLst>
          </p:cNvPr>
          <p:cNvSpPr txBox="1">
            <a:spLocks/>
          </p:cNvSpPr>
          <p:nvPr/>
        </p:nvSpPr>
        <p:spPr>
          <a:xfrm>
            <a:off x="639841" y="1412776"/>
            <a:ext cx="7696867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800" dirty="0"/>
              <a:t>펌웨어 업데이트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AA2F0AF-D166-ADFB-3CA8-0E165706BF6B}"/>
              </a:ext>
            </a:extLst>
          </p:cNvPr>
          <p:cNvSpPr txBox="1">
            <a:spLocks/>
          </p:cNvSpPr>
          <p:nvPr/>
        </p:nvSpPr>
        <p:spPr>
          <a:xfrm>
            <a:off x="395536" y="1916832"/>
            <a:ext cx="8568952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800" dirty="0"/>
              <a:t>▶ </a:t>
            </a:r>
            <a:r>
              <a:rPr lang="en-US" altLang="ko-KR" sz="1800" dirty="0"/>
              <a:t>TFTP (Trivial File Transfer Protocol) </a:t>
            </a:r>
            <a:r>
              <a:rPr lang="ko-KR" altLang="en-US" sz="1800" dirty="0"/>
              <a:t>를 사용한 </a:t>
            </a:r>
            <a:r>
              <a:rPr lang="en-US" altLang="ko-KR" sz="1800" dirty="0"/>
              <a:t>IAP (In-Application Programming)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2FFBACD3-6FD0-0EEC-FF80-0F68CF4F7CFC}"/>
              </a:ext>
            </a:extLst>
          </p:cNvPr>
          <p:cNvSpPr txBox="1">
            <a:spLocks/>
          </p:cNvSpPr>
          <p:nvPr/>
        </p:nvSpPr>
        <p:spPr>
          <a:xfrm>
            <a:off x="1263890" y="4435022"/>
            <a:ext cx="2242439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600" dirty="0"/>
              <a:t> </a:t>
            </a:r>
            <a:r>
              <a:rPr lang="en-US" altLang="ko-KR" sz="1600" dirty="0"/>
              <a:t>[GTM </a:t>
            </a:r>
            <a:r>
              <a:rPr lang="ko-KR" altLang="en-US" sz="1600" dirty="0"/>
              <a:t>감지기</a:t>
            </a:r>
            <a:r>
              <a:rPr lang="en-US" altLang="ko-KR" sz="1600" dirty="0"/>
              <a:t>]</a:t>
            </a:r>
          </a:p>
        </p:txBody>
      </p:sp>
      <p:pic>
        <p:nvPicPr>
          <p:cNvPr id="1026" name="Picture 2" descr="데스크탑 컴퓨터 아이콘 이미지 - 93723610">
            <a:extLst>
              <a:ext uri="{FF2B5EF4-FFF2-40B4-BE49-F238E27FC236}">
                <a16:creationId xmlns:a16="http://schemas.microsoft.com/office/drawing/2014/main" id="{2BA53715-788D-AAE7-08F0-BDCC457BF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3858" y="2204864"/>
            <a:ext cx="2242438" cy="224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16044B5F-FD57-BF1A-C73F-D43F62D21415}"/>
              </a:ext>
            </a:extLst>
          </p:cNvPr>
          <p:cNvSpPr txBox="1">
            <a:spLocks/>
          </p:cNvSpPr>
          <p:nvPr/>
        </p:nvSpPr>
        <p:spPr>
          <a:xfrm>
            <a:off x="5281889" y="4419110"/>
            <a:ext cx="2242439" cy="396044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600" dirty="0"/>
              <a:t> </a:t>
            </a:r>
            <a:r>
              <a:rPr lang="en-US" altLang="ko-KR" sz="1600" dirty="0"/>
              <a:t>[Smart Driver]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442C9E5-AB0E-CC15-5871-D0CF03CD1799}"/>
              </a:ext>
            </a:extLst>
          </p:cNvPr>
          <p:cNvCxnSpPr>
            <a:cxnSpLocks/>
          </p:cNvCxnSpPr>
          <p:nvPr/>
        </p:nvCxnSpPr>
        <p:spPr>
          <a:xfrm flipH="1">
            <a:off x="3288742" y="2878150"/>
            <a:ext cx="1571290" cy="321788"/>
          </a:xfrm>
          <a:prstGeom prst="straightConnector1">
            <a:avLst/>
          </a:prstGeom>
          <a:ln w="38100">
            <a:solidFill>
              <a:srgbClr val="FF3B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D71D349-78A4-35F8-25E1-4C7DE956BB11}"/>
              </a:ext>
            </a:extLst>
          </p:cNvPr>
          <p:cNvCxnSpPr>
            <a:cxnSpLocks/>
          </p:cNvCxnSpPr>
          <p:nvPr/>
        </p:nvCxnSpPr>
        <p:spPr>
          <a:xfrm>
            <a:off x="3291091" y="3339507"/>
            <a:ext cx="1568941" cy="20260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B701E3C8-07E6-EB94-26B4-DBD202F38B69}"/>
              </a:ext>
            </a:extLst>
          </p:cNvPr>
          <p:cNvCxnSpPr>
            <a:cxnSpLocks/>
          </p:cNvCxnSpPr>
          <p:nvPr/>
        </p:nvCxnSpPr>
        <p:spPr>
          <a:xfrm flipH="1">
            <a:off x="3288742" y="3681676"/>
            <a:ext cx="1571290" cy="249290"/>
          </a:xfrm>
          <a:prstGeom prst="straightConnector1">
            <a:avLst/>
          </a:prstGeom>
          <a:ln w="38100">
            <a:solidFill>
              <a:srgbClr val="FF3B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제목 1">
            <a:extLst>
              <a:ext uri="{FF2B5EF4-FFF2-40B4-BE49-F238E27FC236}">
                <a16:creationId xmlns:a16="http://schemas.microsoft.com/office/drawing/2014/main" id="{C20B9D30-53AB-2D66-93A0-C596DB25C5CC}"/>
              </a:ext>
            </a:extLst>
          </p:cNvPr>
          <p:cNvSpPr txBox="1">
            <a:spLocks/>
          </p:cNvSpPr>
          <p:nvPr/>
        </p:nvSpPr>
        <p:spPr>
          <a:xfrm>
            <a:off x="3729432" y="2729663"/>
            <a:ext cx="576064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600" dirty="0">
                <a:solidFill>
                  <a:srgbClr val="FF0000"/>
                </a:solidFill>
              </a:rPr>
              <a:t>①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35" name="제목 1">
            <a:extLst>
              <a:ext uri="{FF2B5EF4-FFF2-40B4-BE49-F238E27FC236}">
                <a16:creationId xmlns:a16="http://schemas.microsoft.com/office/drawing/2014/main" id="{0FD47E65-8CA6-54FC-AC8C-961999BBDC08}"/>
              </a:ext>
            </a:extLst>
          </p:cNvPr>
          <p:cNvSpPr txBox="1">
            <a:spLocks/>
          </p:cNvSpPr>
          <p:nvPr/>
        </p:nvSpPr>
        <p:spPr>
          <a:xfrm>
            <a:off x="4116606" y="3199938"/>
            <a:ext cx="576064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600" dirty="0">
                <a:solidFill>
                  <a:schemeClr val="tx2"/>
                </a:solidFill>
              </a:rPr>
              <a:t>②</a:t>
            </a:r>
            <a:endParaRPr lang="en-US" altLang="ko-KR" sz="1600" dirty="0">
              <a:solidFill>
                <a:schemeClr val="tx2"/>
              </a:solidFill>
            </a:endParaRPr>
          </a:p>
        </p:txBody>
      </p:sp>
      <p:sp>
        <p:nvSpPr>
          <p:cNvPr id="36" name="제목 1">
            <a:extLst>
              <a:ext uri="{FF2B5EF4-FFF2-40B4-BE49-F238E27FC236}">
                <a16:creationId xmlns:a16="http://schemas.microsoft.com/office/drawing/2014/main" id="{DD15E826-2042-216B-50BD-470BD5FE974A}"/>
              </a:ext>
            </a:extLst>
          </p:cNvPr>
          <p:cNvSpPr txBox="1">
            <a:spLocks/>
          </p:cNvSpPr>
          <p:nvPr/>
        </p:nvSpPr>
        <p:spPr>
          <a:xfrm>
            <a:off x="3491880" y="3573016"/>
            <a:ext cx="576064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600" dirty="0">
                <a:solidFill>
                  <a:srgbClr val="FF0000"/>
                </a:solidFill>
              </a:rPr>
              <a:t>③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37" name="제목 1">
            <a:extLst>
              <a:ext uri="{FF2B5EF4-FFF2-40B4-BE49-F238E27FC236}">
                <a16:creationId xmlns:a16="http://schemas.microsoft.com/office/drawing/2014/main" id="{68C8F410-8FBC-7D7F-89DF-93793DE51AB9}"/>
              </a:ext>
            </a:extLst>
          </p:cNvPr>
          <p:cNvSpPr txBox="1">
            <a:spLocks/>
          </p:cNvSpPr>
          <p:nvPr/>
        </p:nvSpPr>
        <p:spPr>
          <a:xfrm>
            <a:off x="899592" y="5085184"/>
            <a:ext cx="6192688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600" dirty="0">
                <a:solidFill>
                  <a:srgbClr val="FF0000"/>
                </a:solidFill>
              </a:rPr>
              <a:t>① </a:t>
            </a:r>
            <a:r>
              <a:rPr lang="en-US" altLang="ko-KR" sz="1600" dirty="0">
                <a:solidFill>
                  <a:srgbClr val="FF0000"/>
                </a:solidFill>
              </a:rPr>
              <a:t>: Smart Driver (Client) </a:t>
            </a:r>
            <a:r>
              <a:rPr lang="ko-KR" altLang="en-US" sz="1600" dirty="0">
                <a:solidFill>
                  <a:srgbClr val="FF0000"/>
                </a:solidFill>
              </a:rPr>
              <a:t>의 파일 쓰기 요청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38" name="제목 1">
            <a:extLst>
              <a:ext uri="{FF2B5EF4-FFF2-40B4-BE49-F238E27FC236}">
                <a16:creationId xmlns:a16="http://schemas.microsoft.com/office/drawing/2014/main" id="{C060209F-89B8-794C-4E87-078FAD3C1C19}"/>
              </a:ext>
            </a:extLst>
          </p:cNvPr>
          <p:cNvSpPr txBox="1">
            <a:spLocks/>
          </p:cNvSpPr>
          <p:nvPr/>
        </p:nvSpPr>
        <p:spPr>
          <a:xfrm>
            <a:off x="899592" y="5445224"/>
            <a:ext cx="6624736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600" dirty="0">
                <a:solidFill>
                  <a:schemeClr val="tx2"/>
                </a:solidFill>
              </a:rPr>
              <a:t>② </a:t>
            </a:r>
            <a:r>
              <a:rPr lang="en-US" altLang="ko-KR" sz="1600" dirty="0">
                <a:solidFill>
                  <a:schemeClr val="tx2"/>
                </a:solidFill>
              </a:rPr>
              <a:t>: </a:t>
            </a:r>
            <a:r>
              <a:rPr lang="ko-KR" altLang="en-US" sz="1600" dirty="0">
                <a:solidFill>
                  <a:schemeClr val="tx2"/>
                </a:solidFill>
              </a:rPr>
              <a:t>응답으로 </a:t>
            </a:r>
            <a:r>
              <a:rPr lang="en-US" altLang="ko-KR" sz="1600" dirty="0">
                <a:solidFill>
                  <a:schemeClr val="tx2"/>
                </a:solidFill>
              </a:rPr>
              <a:t>Ack </a:t>
            </a:r>
            <a:r>
              <a:rPr lang="ko-KR" altLang="en-US" sz="1600" dirty="0">
                <a:solidFill>
                  <a:schemeClr val="tx2"/>
                </a:solidFill>
              </a:rPr>
              <a:t>전송</a:t>
            </a:r>
            <a:endParaRPr lang="en-US" altLang="ko-KR" sz="1600" dirty="0">
              <a:solidFill>
                <a:schemeClr val="tx2"/>
              </a:solidFill>
            </a:endParaRPr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94B940D9-CB75-5FE8-654B-FFEFF371FEB6}"/>
              </a:ext>
            </a:extLst>
          </p:cNvPr>
          <p:cNvSpPr txBox="1">
            <a:spLocks/>
          </p:cNvSpPr>
          <p:nvPr/>
        </p:nvSpPr>
        <p:spPr>
          <a:xfrm>
            <a:off x="899592" y="5821630"/>
            <a:ext cx="5904656" cy="327309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600" dirty="0">
                <a:solidFill>
                  <a:srgbClr val="FF0000"/>
                </a:solidFill>
              </a:rPr>
              <a:t>③ </a:t>
            </a:r>
            <a:r>
              <a:rPr lang="en-US" altLang="ko-KR" sz="1600" dirty="0">
                <a:solidFill>
                  <a:srgbClr val="FF0000"/>
                </a:solidFill>
              </a:rPr>
              <a:t>: GTM </a:t>
            </a:r>
            <a:r>
              <a:rPr lang="ko-KR" altLang="en-US" sz="1600" dirty="0">
                <a:solidFill>
                  <a:srgbClr val="FF0000"/>
                </a:solidFill>
              </a:rPr>
              <a:t>감지기 </a:t>
            </a:r>
            <a:r>
              <a:rPr lang="en-US" altLang="ko-KR" sz="1600" dirty="0">
                <a:solidFill>
                  <a:srgbClr val="FF0000"/>
                </a:solidFill>
              </a:rPr>
              <a:t>(Server) </a:t>
            </a:r>
            <a:r>
              <a:rPr lang="ko-KR" altLang="en-US" sz="1600" dirty="0">
                <a:solidFill>
                  <a:srgbClr val="FF0000"/>
                </a:solidFill>
              </a:rPr>
              <a:t>에 파일 전송</a:t>
            </a:r>
            <a:r>
              <a:rPr lang="en-US" altLang="ko-KR" sz="16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5331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추진배경 및 개요</a:t>
            </a: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DE814A92-416C-6B7F-1A09-37401194C8C4}"/>
              </a:ext>
            </a:extLst>
          </p:cNvPr>
          <p:cNvSpPr txBox="1">
            <a:spLocks/>
          </p:cNvSpPr>
          <p:nvPr/>
        </p:nvSpPr>
        <p:spPr>
          <a:xfrm>
            <a:off x="395536" y="1050645"/>
            <a:ext cx="8748464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800" dirty="0"/>
              <a:t>▶ </a:t>
            </a:r>
            <a:r>
              <a:rPr lang="en-US" altLang="ko-KR" sz="1800" dirty="0"/>
              <a:t>IAP </a:t>
            </a:r>
            <a:r>
              <a:rPr lang="ko-KR" altLang="en-US" sz="1800" dirty="0"/>
              <a:t>는 </a:t>
            </a:r>
            <a:r>
              <a:rPr lang="en-US" altLang="ko-KR" sz="1800" dirty="0"/>
              <a:t>UART, USB, CAN </a:t>
            </a:r>
            <a:r>
              <a:rPr lang="ko-KR" altLang="en-US" sz="1800" dirty="0"/>
              <a:t>및 </a:t>
            </a:r>
            <a:r>
              <a:rPr lang="en-US" altLang="ko-KR" sz="1800" dirty="0"/>
              <a:t>Ethernet </a:t>
            </a:r>
            <a:r>
              <a:rPr lang="ko-KR" altLang="en-US" sz="1800" dirty="0"/>
              <a:t>과 같은 </a:t>
            </a:r>
            <a:r>
              <a:rPr lang="en-US" altLang="ko-KR" sz="1800" dirty="0"/>
              <a:t>MCU </a:t>
            </a:r>
            <a:r>
              <a:rPr lang="ko-KR" altLang="en-US" sz="1800" dirty="0"/>
              <a:t>통신 인터페이스를 사용하여 </a:t>
            </a:r>
            <a:endParaRPr lang="en-US" altLang="ko-KR" sz="1800" dirty="0"/>
          </a:p>
          <a:p>
            <a:endParaRPr lang="en-US" altLang="ko-KR" sz="1800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D2D96549-B17C-17BA-BEC8-43CA022E8A8B}"/>
              </a:ext>
            </a:extLst>
          </p:cNvPr>
          <p:cNvSpPr txBox="1">
            <a:spLocks/>
          </p:cNvSpPr>
          <p:nvPr/>
        </p:nvSpPr>
        <p:spPr>
          <a:xfrm>
            <a:off x="639841" y="1412776"/>
            <a:ext cx="7696867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800" dirty="0"/>
              <a:t>현장에서 펌웨어를 업그레이드 하기 위한 목적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AA2F0AF-D166-ADFB-3CA8-0E165706BF6B}"/>
              </a:ext>
            </a:extLst>
          </p:cNvPr>
          <p:cNvSpPr txBox="1">
            <a:spLocks/>
          </p:cNvSpPr>
          <p:nvPr/>
        </p:nvSpPr>
        <p:spPr>
          <a:xfrm>
            <a:off x="395536" y="1916832"/>
            <a:ext cx="8568952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800" dirty="0"/>
              <a:t>▶ </a:t>
            </a:r>
            <a:r>
              <a:rPr lang="en-US" altLang="ko-KR" sz="1800" dirty="0"/>
              <a:t>TFTP </a:t>
            </a:r>
            <a:r>
              <a:rPr lang="ko-KR" altLang="en-US" sz="1800" dirty="0"/>
              <a:t>는 </a:t>
            </a:r>
            <a:r>
              <a:rPr lang="en-US" altLang="ko-KR" sz="1800" dirty="0"/>
              <a:t>LWIP UDP </a:t>
            </a:r>
            <a:r>
              <a:rPr lang="ko-KR" altLang="en-US" sz="1800" dirty="0"/>
              <a:t>스택에서 동작하는 파일전송 프로토콜로 원격에서 사용 가능</a:t>
            </a:r>
            <a:r>
              <a:rPr lang="en-US" altLang="ko-KR" sz="1800" dirty="0"/>
              <a:t>.</a:t>
            </a:r>
            <a:r>
              <a:rPr lang="ko-KR" altLang="en-US" sz="1800" dirty="0"/>
              <a:t> </a:t>
            </a:r>
            <a:endParaRPr lang="en-US" altLang="ko-KR" sz="1800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0CC86C97-A4FA-E664-6528-9BA2FAC6F6CB}"/>
              </a:ext>
            </a:extLst>
          </p:cNvPr>
          <p:cNvSpPr txBox="1">
            <a:spLocks/>
          </p:cNvSpPr>
          <p:nvPr/>
        </p:nvSpPr>
        <p:spPr>
          <a:xfrm>
            <a:off x="395536" y="2420888"/>
            <a:ext cx="8640960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800" dirty="0"/>
              <a:t>▶ </a:t>
            </a:r>
            <a:r>
              <a:rPr lang="en-US" altLang="ko-KR" sz="1800" dirty="0"/>
              <a:t>TFTP IAP </a:t>
            </a:r>
            <a:r>
              <a:rPr lang="ko-KR" altLang="en-US" sz="1800" dirty="0"/>
              <a:t>기능이 구현 된 펌웨어 </a:t>
            </a:r>
            <a:r>
              <a:rPr lang="en-US" altLang="ko-KR" sz="1800" dirty="0"/>
              <a:t>(Boot FW) </a:t>
            </a:r>
            <a:r>
              <a:rPr lang="ko-KR" altLang="en-US" sz="1800" dirty="0"/>
              <a:t>와 </a:t>
            </a:r>
            <a:r>
              <a:rPr lang="en-US" altLang="ko-KR" sz="1800" dirty="0"/>
              <a:t>APP </a:t>
            </a:r>
            <a:r>
              <a:rPr lang="ko-KR" altLang="en-US" sz="1800" dirty="0"/>
              <a:t>실행을 위한 펌웨어 </a:t>
            </a:r>
            <a:r>
              <a:rPr lang="en-US" altLang="ko-KR" sz="1800" dirty="0"/>
              <a:t>(App FW) 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9F478A4-E8A1-29A1-933D-366BF7B0594A}"/>
              </a:ext>
            </a:extLst>
          </p:cNvPr>
          <p:cNvSpPr txBox="1">
            <a:spLocks/>
          </p:cNvSpPr>
          <p:nvPr/>
        </p:nvSpPr>
        <p:spPr>
          <a:xfrm>
            <a:off x="634995" y="2780928"/>
            <a:ext cx="7696867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800" dirty="0"/>
              <a:t>구현 필요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E0CBFC61-11D3-981E-ED10-B39863451C7E}"/>
              </a:ext>
            </a:extLst>
          </p:cNvPr>
          <p:cNvSpPr txBox="1">
            <a:spLocks/>
          </p:cNvSpPr>
          <p:nvPr/>
        </p:nvSpPr>
        <p:spPr>
          <a:xfrm>
            <a:off x="395536" y="3284984"/>
            <a:ext cx="8640960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800" dirty="0"/>
              <a:t>▶ </a:t>
            </a:r>
            <a:r>
              <a:rPr lang="en-US" altLang="ko-KR" sz="1800" dirty="0"/>
              <a:t>Boot FW</a:t>
            </a:r>
            <a:r>
              <a:rPr lang="ko-KR" altLang="en-US" sz="1800" dirty="0"/>
              <a:t> 가 구동하면 다음 중 하나를 선택하여 실행한다</a:t>
            </a:r>
            <a:r>
              <a:rPr lang="en-US" altLang="ko-KR" sz="1800" dirty="0"/>
              <a:t>.</a:t>
            </a:r>
            <a:r>
              <a:rPr lang="ko-KR" altLang="en-US" sz="1800" dirty="0"/>
              <a:t> </a:t>
            </a:r>
            <a:endParaRPr lang="en-US" altLang="ko-KR" sz="1800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FC4C8797-4B3F-71B8-E8E4-8C4F645B6F8E}"/>
              </a:ext>
            </a:extLst>
          </p:cNvPr>
          <p:cNvSpPr txBox="1">
            <a:spLocks/>
          </p:cNvSpPr>
          <p:nvPr/>
        </p:nvSpPr>
        <p:spPr>
          <a:xfrm>
            <a:off x="639841" y="3645024"/>
            <a:ext cx="7696867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800" dirty="0"/>
              <a:t>TFTP IAP </a:t>
            </a:r>
            <a:r>
              <a:rPr lang="ko-KR" altLang="en-US" sz="1800" dirty="0"/>
              <a:t>실행을 위한 로직 </a:t>
            </a:r>
            <a:r>
              <a:rPr lang="en-US" altLang="ko-KR" sz="1800" dirty="0"/>
              <a:t>or App </a:t>
            </a:r>
            <a:r>
              <a:rPr lang="ko-KR" altLang="en-US" sz="1800" dirty="0"/>
              <a:t>실행을 위한 로직</a:t>
            </a:r>
            <a:r>
              <a:rPr lang="en-US" altLang="ko-KR" sz="1800" dirty="0"/>
              <a:t>.</a:t>
            </a: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1327300B-FB17-3C03-DD14-551A6D46FEC2}"/>
              </a:ext>
            </a:extLst>
          </p:cNvPr>
          <p:cNvSpPr txBox="1">
            <a:spLocks/>
          </p:cNvSpPr>
          <p:nvPr/>
        </p:nvSpPr>
        <p:spPr>
          <a:xfrm>
            <a:off x="395536" y="4149080"/>
            <a:ext cx="8640960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800" dirty="0"/>
              <a:t>▶ </a:t>
            </a:r>
            <a:r>
              <a:rPr lang="en-US" altLang="ko-KR" sz="1800" dirty="0"/>
              <a:t>IAP </a:t>
            </a:r>
            <a:r>
              <a:rPr lang="ko-KR" altLang="en-US" sz="1800" dirty="0"/>
              <a:t>코드와 </a:t>
            </a:r>
            <a:r>
              <a:rPr lang="en-US" altLang="ko-KR" sz="1800" dirty="0"/>
              <a:t>APP </a:t>
            </a:r>
            <a:r>
              <a:rPr lang="ko-KR" altLang="en-US" sz="1800" dirty="0"/>
              <a:t>코드는 모두 </a:t>
            </a:r>
            <a:r>
              <a:rPr lang="en-US" altLang="ko-KR" sz="1800" dirty="0"/>
              <a:t>MCU Flash</a:t>
            </a:r>
            <a:r>
              <a:rPr lang="ko-KR" altLang="en-US" sz="1800" dirty="0"/>
              <a:t> 메모리에 저장</a:t>
            </a:r>
            <a:r>
              <a:rPr lang="en-US" altLang="ko-KR" sz="1800" dirty="0"/>
              <a:t>.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2458FF1D-6309-95D0-C3B1-F1488EF059FF}"/>
              </a:ext>
            </a:extLst>
          </p:cNvPr>
          <p:cNvSpPr txBox="1">
            <a:spLocks/>
          </p:cNvSpPr>
          <p:nvPr/>
        </p:nvSpPr>
        <p:spPr>
          <a:xfrm>
            <a:off x="677549" y="4518547"/>
            <a:ext cx="7696867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800" dirty="0"/>
              <a:t>IAP </a:t>
            </a:r>
            <a:r>
              <a:rPr lang="ko-KR" altLang="en-US" sz="1800" dirty="0"/>
              <a:t>코드는 </a:t>
            </a:r>
            <a:r>
              <a:rPr lang="en-US" altLang="ko-KR" sz="1800" dirty="0"/>
              <a:t>Flash </a:t>
            </a:r>
            <a:r>
              <a:rPr lang="ko-KR" altLang="en-US" sz="1800" dirty="0"/>
              <a:t>첫 페이지부터 저장하고</a:t>
            </a:r>
            <a:r>
              <a:rPr lang="en-US" altLang="ko-KR" sz="1800" dirty="0"/>
              <a:t>, App </a:t>
            </a:r>
            <a:r>
              <a:rPr lang="ko-KR" altLang="en-US" sz="1800" dirty="0"/>
              <a:t>코드는 나머지 영역에 저장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6571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추진배경 및 개요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D5DFD68-E9F4-3D0C-3B6F-E07F50CD9E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8" b="3832"/>
          <a:stretch/>
        </p:blipFill>
        <p:spPr bwMode="auto">
          <a:xfrm>
            <a:off x="2448279" y="764704"/>
            <a:ext cx="4432111" cy="5184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3586EC48-9CE8-99AA-0B1E-141CF082F9E3}"/>
              </a:ext>
            </a:extLst>
          </p:cNvPr>
          <p:cNvSpPr txBox="1">
            <a:spLocks/>
          </p:cNvSpPr>
          <p:nvPr/>
        </p:nvSpPr>
        <p:spPr>
          <a:xfrm>
            <a:off x="3203848" y="6093296"/>
            <a:ext cx="7696867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800" dirty="0"/>
              <a:t>[ IAP </a:t>
            </a:r>
            <a:r>
              <a:rPr lang="ko-KR" altLang="en-US" sz="1800" dirty="0"/>
              <a:t>동작 </a:t>
            </a:r>
            <a:r>
              <a:rPr lang="en-US" altLang="ko-KR" sz="1800" dirty="0"/>
              <a:t>Flow ]</a:t>
            </a:r>
          </a:p>
          <a:p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1926432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개발 내용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586EC48-9CE8-99AA-0B1E-141CF082F9E3}"/>
              </a:ext>
            </a:extLst>
          </p:cNvPr>
          <p:cNvSpPr txBox="1">
            <a:spLocks/>
          </p:cNvSpPr>
          <p:nvPr/>
        </p:nvSpPr>
        <p:spPr>
          <a:xfrm>
            <a:off x="5012037" y="836712"/>
            <a:ext cx="7696867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600" dirty="0"/>
              <a:t>[ TFTP IAP</a:t>
            </a:r>
            <a:r>
              <a:rPr lang="ko-KR" altLang="en-US" sz="1600" dirty="0"/>
              <a:t> </a:t>
            </a:r>
            <a:r>
              <a:rPr lang="en-US" altLang="ko-KR" sz="1600" dirty="0"/>
              <a:t>Flow </a:t>
            </a:r>
            <a:r>
              <a:rPr lang="en-US" altLang="ko-KR" sz="1800" dirty="0"/>
              <a:t>]</a:t>
            </a:r>
          </a:p>
          <a:p>
            <a:endParaRPr lang="en-US" altLang="ko-KR" sz="18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1875CD7-38C2-1925-9742-A24DE89532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0" r="29697" b="-15"/>
          <a:stretch/>
        </p:blipFill>
        <p:spPr bwMode="auto">
          <a:xfrm>
            <a:off x="2987824" y="748300"/>
            <a:ext cx="2088232" cy="599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4386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개발 내용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504953-ABBC-9281-7962-13BED1A4B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908720"/>
            <a:ext cx="4968552" cy="40001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78F1F996-C57B-BA26-4EF5-A14BD571E0CA}"/>
              </a:ext>
            </a:extLst>
          </p:cNvPr>
          <p:cNvSpPr txBox="1">
            <a:spLocks/>
          </p:cNvSpPr>
          <p:nvPr/>
        </p:nvSpPr>
        <p:spPr>
          <a:xfrm>
            <a:off x="467544" y="5229200"/>
            <a:ext cx="8748464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400" dirty="0"/>
              <a:t>▶ </a:t>
            </a:r>
            <a:r>
              <a:rPr lang="en-US" altLang="ko-KR" sz="1400" dirty="0"/>
              <a:t>TFTP Client </a:t>
            </a:r>
            <a:r>
              <a:rPr lang="ko-KR" altLang="en-US" sz="1400" dirty="0"/>
              <a:t>로 동작하는 </a:t>
            </a:r>
            <a:r>
              <a:rPr lang="en-US" altLang="ko-KR" sz="1400" dirty="0"/>
              <a:t>TFTPD64 </a:t>
            </a:r>
            <a:r>
              <a:rPr lang="ko-KR" altLang="en-US" sz="1400" dirty="0"/>
              <a:t>프로그램을 </a:t>
            </a:r>
            <a:r>
              <a:rPr lang="en-US" altLang="ko-KR" sz="1400" dirty="0"/>
              <a:t>PC </a:t>
            </a:r>
            <a:r>
              <a:rPr lang="ko-KR" altLang="en-US" sz="1400" dirty="0"/>
              <a:t>에 다운로드하여 </a:t>
            </a:r>
            <a:r>
              <a:rPr lang="en-US" altLang="ko-KR" sz="1400" dirty="0"/>
              <a:t>IAP </a:t>
            </a:r>
            <a:r>
              <a:rPr lang="ko-KR" altLang="en-US" sz="1400" dirty="0"/>
              <a:t>테스트 진행 하였음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endParaRPr lang="en-US" altLang="ko-KR" sz="1800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3DE42B55-FFB8-F251-D18A-A44CC2380529}"/>
              </a:ext>
            </a:extLst>
          </p:cNvPr>
          <p:cNvSpPr txBox="1">
            <a:spLocks/>
          </p:cNvSpPr>
          <p:nvPr/>
        </p:nvSpPr>
        <p:spPr>
          <a:xfrm>
            <a:off x="467544" y="5589240"/>
            <a:ext cx="8748464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400" dirty="0"/>
              <a:t>▶ </a:t>
            </a:r>
            <a:r>
              <a:rPr lang="en-US" altLang="ko-KR" sz="1400" dirty="0"/>
              <a:t>TFTP Server </a:t>
            </a:r>
            <a:r>
              <a:rPr lang="ko-KR" altLang="en-US" sz="1400" dirty="0"/>
              <a:t>의 </a:t>
            </a:r>
            <a:r>
              <a:rPr lang="en-US" altLang="ko-KR" sz="1400" dirty="0"/>
              <a:t>IP </a:t>
            </a:r>
            <a:r>
              <a:rPr lang="ko-KR" altLang="en-US" sz="1400" dirty="0"/>
              <a:t>주소 </a:t>
            </a:r>
            <a:r>
              <a:rPr lang="en-US" altLang="ko-KR" sz="1400" dirty="0"/>
              <a:t>(</a:t>
            </a:r>
            <a:r>
              <a:rPr lang="ko-KR" altLang="en-US" sz="1400" dirty="0"/>
              <a:t>고정 </a:t>
            </a:r>
            <a:r>
              <a:rPr lang="en-US" altLang="ko-KR" sz="1400" dirty="0"/>
              <a:t>IP) </a:t>
            </a:r>
            <a:r>
              <a:rPr lang="ko-KR" altLang="en-US" sz="1400" dirty="0"/>
              <a:t>와 </a:t>
            </a:r>
            <a:r>
              <a:rPr lang="en-US" altLang="ko-KR" sz="1400" dirty="0"/>
              <a:t>Port </a:t>
            </a:r>
            <a:r>
              <a:rPr lang="ko-KR" altLang="en-US" sz="1400" dirty="0"/>
              <a:t>입력 후</a:t>
            </a:r>
            <a:r>
              <a:rPr lang="en-US" altLang="ko-KR" sz="1400" dirty="0"/>
              <a:t>, </a:t>
            </a:r>
            <a:r>
              <a:rPr lang="ko-KR" altLang="en-US" sz="1400" dirty="0"/>
              <a:t>업그레이드 할 </a:t>
            </a:r>
            <a:r>
              <a:rPr lang="en-US" altLang="ko-KR" sz="1400" dirty="0"/>
              <a:t>App (</a:t>
            </a:r>
            <a:r>
              <a:rPr lang="ko-KR" altLang="en-US" sz="1400" dirty="0"/>
              <a:t>펌웨어</a:t>
            </a:r>
            <a:r>
              <a:rPr lang="en-US" altLang="ko-KR" sz="1400" dirty="0"/>
              <a:t>) </a:t>
            </a:r>
            <a:r>
              <a:rPr lang="ko-KR" altLang="en-US" sz="1400" dirty="0"/>
              <a:t>를 로드 한다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endParaRPr lang="en-US" altLang="ko-KR" sz="18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CB0FF5B8-4E34-4A41-9B41-CB48A60198A0}"/>
              </a:ext>
            </a:extLst>
          </p:cNvPr>
          <p:cNvSpPr txBox="1">
            <a:spLocks/>
          </p:cNvSpPr>
          <p:nvPr/>
        </p:nvSpPr>
        <p:spPr>
          <a:xfrm>
            <a:off x="467544" y="5949280"/>
            <a:ext cx="8748464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400" dirty="0"/>
              <a:t>▶ </a:t>
            </a:r>
            <a:r>
              <a:rPr lang="en-US" altLang="ko-KR" sz="1400" dirty="0"/>
              <a:t>Put </a:t>
            </a:r>
            <a:r>
              <a:rPr lang="ko-KR" altLang="en-US" sz="1400" dirty="0"/>
              <a:t>버튼을 눌러 </a:t>
            </a:r>
            <a:r>
              <a:rPr lang="en-US" altLang="ko-KR" sz="1400" dirty="0"/>
              <a:t>GTM </a:t>
            </a:r>
            <a:r>
              <a:rPr lang="ko-KR" altLang="en-US" sz="1400" dirty="0"/>
              <a:t>감지기 </a:t>
            </a:r>
            <a:r>
              <a:rPr lang="en-US" altLang="ko-KR" sz="1400" dirty="0"/>
              <a:t>(TFTP Server) </a:t>
            </a:r>
            <a:r>
              <a:rPr lang="ko-KR" altLang="en-US" sz="1400" dirty="0"/>
              <a:t>로</a:t>
            </a:r>
            <a:r>
              <a:rPr lang="en-US" altLang="ko-KR" sz="1400" dirty="0"/>
              <a:t> </a:t>
            </a:r>
            <a:r>
              <a:rPr lang="ko-KR" altLang="en-US" sz="1400" dirty="0"/>
              <a:t>파일을 전송한다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1792917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개발 내용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CB0FF5B8-4E34-4A41-9B41-CB48A60198A0}"/>
              </a:ext>
            </a:extLst>
          </p:cNvPr>
          <p:cNvSpPr txBox="1">
            <a:spLocks/>
          </p:cNvSpPr>
          <p:nvPr/>
        </p:nvSpPr>
        <p:spPr>
          <a:xfrm>
            <a:off x="5148064" y="980728"/>
            <a:ext cx="3600400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600" dirty="0"/>
              <a:t>[ </a:t>
            </a:r>
            <a:r>
              <a:rPr lang="ko-KR" altLang="en-US" sz="1600" dirty="0"/>
              <a:t>파일 수신하여 </a:t>
            </a:r>
            <a:r>
              <a:rPr lang="en-US" altLang="ko-KR" sz="1600" dirty="0"/>
              <a:t>Flash </a:t>
            </a:r>
            <a:r>
              <a:rPr lang="ko-KR" altLang="en-US" sz="1600" dirty="0"/>
              <a:t>에 </a:t>
            </a:r>
            <a:r>
              <a:rPr lang="en-US" altLang="ko-KR" sz="1600" dirty="0"/>
              <a:t>write!</a:t>
            </a:r>
            <a:r>
              <a:rPr lang="ko-KR" altLang="en-US" sz="1600" dirty="0"/>
              <a:t> </a:t>
            </a:r>
            <a:r>
              <a:rPr lang="en-US" altLang="ko-KR" sz="1600" dirty="0"/>
              <a:t>]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endParaRPr lang="en-US" altLang="ko-KR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4A83D44-E27F-C229-D415-F477EDEA4D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962"/>
          <a:stretch/>
        </p:blipFill>
        <p:spPr>
          <a:xfrm>
            <a:off x="1200321" y="730006"/>
            <a:ext cx="4019751" cy="296682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7883E3C-392F-FED0-A0D3-D06FAF9F08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860" y="3933056"/>
            <a:ext cx="4009212" cy="2664296"/>
          </a:xfrm>
          <a:prstGeom prst="rect">
            <a:avLst/>
          </a:prstGeom>
        </p:spPr>
      </p:pic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018B9648-ABD2-BE87-8907-927FDE5B14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608330"/>
              </p:ext>
            </p:extLst>
          </p:nvPr>
        </p:nvGraphicFramePr>
        <p:xfrm>
          <a:off x="6220349" y="3429000"/>
          <a:ext cx="1567436" cy="699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5" imgW="1152698" imgH="514350" progId="Package">
                  <p:embed/>
                </p:oleObj>
              </mc:Choice>
              <mc:Fallback>
                <p:oleObj name="포장기 셸 개체" showAsIcon="1" r:id="rId5" imgW="1152698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20349" y="3429000"/>
                        <a:ext cx="1567436" cy="6995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3104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개발 내용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CB0FF5B8-4E34-4A41-9B41-CB48A60198A0}"/>
              </a:ext>
            </a:extLst>
          </p:cNvPr>
          <p:cNvSpPr txBox="1">
            <a:spLocks/>
          </p:cNvSpPr>
          <p:nvPr/>
        </p:nvSpPr>
        <p:spPr>
          <a:xfrm>
            <a:off x="3491880" y="5737233"/>
            <a:ext cx="4392488" cy="360040"/>
          </a:xfrm>
          <a:prstGeom prst="rect">
            <a:avLst/>
          </a:prstGeom>
        </p:spPr>
        <p:txBody>
          <a:bodyPr lIns="180000" tIns="0" rIns="0" bIns="0" anchor="t" anchorCtr="0"/>
          <a:lstStyle>
            <a:lvl1pPr algn="l" defTabSz="753448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600" dirty="0"/>
              <a:t>[ </a:t>
            </a:r>
            <a:r>
              <a:rPr lang="ko-KR" altLang="en-US" sz="1600" dirty="0"/>
              <a:t>파일 전송 완료 </a:t>
            </a:r>
            <a:r>
              <a:rPr lang="en-US" altLang="ko-KR" sz="1600" dirty="0"/>
              <a:t>]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endParaRPr lang="en-US" altLang="ko-KR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B6F9D75-7B31-0466-EBEE-A91FD14E7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825780"/>
            <a:ext cx="5677692" cy="46488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42745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참고 자료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7865BA-DF99-DDDF-616D-FEE2585CE1CC}"/>
              </a:ext>
            </a:extLst>
          </p:cNvPr>
          <p:cNvSpPr txBox="1"/>
          <p:nvPr/>
        </p:nvSpPr>
        <p:spPr>
          <a:xfrm>
            <a:off x="0" y="1124745"/>
            <a:ext cx="7092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rtl="0">
              <a:spcBef>
                <a:spcPts val="0"/>
              </a:spcBef>
              <a:spcAft>
                <a:spcPts val="0"/>
              </a:spcAft>
            </a:pPr>
            <a:r>
              <a:rPr lang="en-US" altLang="ko-KR" sz="160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TFTP </a:t>
            </a:r>
            <a:r>
              <a:rPr lang="ko-KR" altLang="en-US" sz="160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프로토콜 </a:t>
            </a:r>
            <a:r>
              <a:rPr lang="en-US" altLang="ko-KR" sz="160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ko-KR" altLang="en-US" sz="160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r>
              <a:rPr lang="en-US" altLang="ko-KR" sz="160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https://www.freesoft.org/CIE/RFC/1350/index.htm</a:t>
            </a:r>
            <a:endParaRPr lang="ko-KR" altLang="en-US" dirty="0">
              <a:effectLst/>
            </a:endParaRPr>
          </a:p>
          <a:p>
            <a:br>
              <a:rPr lang="ko-KR" altLang="en-US" dirty="0"/>
            </a:b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392DB8-31D2-6A67-F4C8-8A49E7BCECB5}"/>
              </a:ext>
            </a:extLst>
          </p:cNvPr>
          <p:cNvSpPr txBox="1"/>
          <p:nvPr/>
        </p:nvSpPr>
        <p:spPr>
          <a:xfrm>
            <a:off x="0" y="1772816"/>
            <a:ext cx="73083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rtl="0">
              <a:spcBef>
                <a:spcPts val="0"/>
              </a:spcBef>
              <a:spcAft>
                <a:spcPts val="0"/>
              </a:spcAft>
            </a:pPr>
            <a:r>
              <a:rPr lang="en-US" altLang="ko-KR" b="1" i="1" dirty="0">
                <a:solidFill>
                  <a:srgbClr val="000000"/>
                </a:solidFill>
                <a:latin typeface="Arial" panose="020B0604020202020204" pitchFamily="34" charset="0"/>
              </a:rPr>
              <a:t>Reference: 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se-nanumgothic"/>
                <a:hlinkClick r:id="rId2"/>
              </a:rPr>
              <a:t>http://www.st.com/content/ccc/resource/technical/document/user_manual/79/6e/5f/d4/5c/25/43/96/DM00103145.pdf/files/DM00103145.pdf/jcr:content/translations/en.DM00103145.pdf</a:t>
            </a:r>
            <a:br>
              <a:rPr lang="ko-KR" altLang="en-US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0577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/>
        </p:nvSpPr>
        <p:spPr bwMode="auto">
          <a:xfrm>
            <a:off x="1" y="4852569"/>
            <a:ext cx="9144000" cy="232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 anchorCtr="0"/>
          <a:lstStyle>
            <a:lvl1pPr latinLnBrk="1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ko-KR" altLang="en-US" sz="1846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87D722-D9C7-4874-B857-15FB597A200A}"/>
              </a:ext>
            </a:extLst>
          </p:cNvPr>
          <p:cNvSpPr txBox="1"/>
          <p:nvPr/>
        </p:nvSpPr>
        <p:spPr>
          <a:xfrm>
            <a:off x="2287272" y="2875002"/>
            <a:ext cx="456945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600" b="1" spc="-3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D71A2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Thank </a:t>
            </a:r>
            <a:r>
              <a:rPr lang="en-US" altLang="ko-KR" sz="6000" b="1" spc="-3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009A4E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You</a:t>
            </a:r>
            <a:endParaRPr lang="ko-KR" altLang="en-US" sz="6000" b="1" spc="-3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rgbClr val="009A4E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749121"/>
      </p:ext>
    </p:extLst>
  </p:cSld>
  <p:clrMapOvr>
    <a:masterClrMapping/>
  </p:clrMapOvr>
</p:sld>
</file>

<file path=ppt/theme/theme1.xml><?xml version="1.0" encoding="utf-8"?>
<a:theme xmlns:a="http://schemas.openxmlformats.org/drawingml/2006/main" name="표지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38291</TotalTime>
  <Words>382</Words>
  <Application>Microsoft Office PowerPoint</Application>
  <PresentationFormat>화면 슬라이드 쇼(4:3)</PresentationFormat>
  <Paragraphs>49</Paragraphs>
  <Slides>10</Slides>
  <Notes>7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9" baseType="lpstr">
      <vt:lpstr>se-nanumgothic</vt:lpstr>
      <vt:lpstr>나눔고딕</vt:lpstr>
      <vt:lpstr>나눔고딕 ExtraBold</vt:lpstr>
      <vt:lpstr>맑은 고딕</vt:lpstr>
      <vt:lpstr>Arial</vt:lpstr>
      <vt:lpstr>Arial Black</vt:lpstr>
      <vt:lpstr>Calibri</vt:lpstr>
      <vt:lpstr>표지</vt:lpstr>
      <vt:lpstr>패키지</vt:lpstr>
      <vt:lpstr>PowerPoint 프레젠테이션</vt:lpstr>
      <vt:lpstr>1. 추진배경 및 개요</vt:lpstr>
      <vt:lpstr>1. 추진배경 및 개요</vt:lpstr>
      <vt:lpstr>1. 추진배경 및 개요</vt:lpstr>
      <vt:lpstr>2. 개발 내용</vt:lpstr>
      <vt:lpstr>2. 개발 내용</vt:lpstr>
      <vt:lpstr>2. 개발 내용</vt:lpstr>
      <vt:lpstr>2. 개발 내용</vt:lpstr>
      <vt:lpstr>3. 참고 자료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 Sang Hyeun</dc:creator>
  <cp:lastModifiedBy>트론 가스</cp:lastModifiedBy>
  <cp:revision>585</cp:revision>
  <cp:lastPrinted>2018-02-28T04:15:12Z</cp:lastPrinted>
  <dcterms:created xsi:type="dcterms:W3CDTF">2018-02-13T08:45:12Z</dcterms:created>
  <dcterms:modified xsi:type="dcterms:W3CDTF">2024-07-05T04:03:31Z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TAwMDAwMDAwMDA0MTQ1IiwibG9nVGltZSI6IjIwMjUtMDYtMThUMDA6MjQ6MTlaIiwicElEIjoxLCJwcm9jZXNzSWQiOjE2MTcyLCJwcm9jZXNzTmFtZSI6ImZfYmF0bWdyLmV4ZSIsInRyYWNlSWQiOiIzM0UxNzM3NjE4RjA0RUJCOUMzNkY4QkNCQjk0RDAzOCIsInVzZXJDb2RlIjoiam15b28ifSwibm9kZTIiOnsiZHNkIjoiMDEwMDAwMDAwMDAwNDE0NSIsImxvZ1RpbWUiOiIyMDI1LTA2LTE4VDAwOjI0OjE5WiIsInBJRCI6MSwicHJvY2Vzc0lkIjoxNjE3MiwicHJvY2Vzc05hbWUiOiJmX2JhdG1nci5leGUiLCJ0cmFjZUlkIjoiMzNFMTczNzYxOEYwNEVCQjlDMzZGOEJDQkI5NEQwMzgiLCJ1c2VyQ29kZSI6ImpteW9vIn0sIm5vZGUzIjp7ImRzZCI6IjAxMDAwMDAwMDAwMDQxNDUiLCJsb2dUaW1lIjoiMjAyNS0wNi0xOFQwMDoyNDoxOVoiLCJwSUQiOjEsInByb2Nlc3NJZCI6MTYxNzIsInByb2Nlc3NOYW1lIjoiZl9iYXRtZ3IuZXhlIiwidHJhY2VJZCI6IjMzRTE3Mzc2MThGMDRFQkI5QzM2RjhCQ0JCOTREMDM4IiwidXNlckNvZGUiOiJqbXlvbyJ9LCJub2RlNCI6eyJkc2QiOiIwMTAwMDAwMDAwMDA0MTQ1IiwibG9nVGltZSI6IjIwMjUtMDYtMThUMDA6MjQ6MTlaIiwicElEIjoxLCJwcm9jZXNzSWQiOjE2MTcyLCJwcm9jZXNzTmFtZSI6ImZfYmF0bWdyLmV4ZSIsInRyYWNlSWQiOiIzM0UxNzM3NjE4RjA0RUJCOUMzNkY4QkNCQjk0RDAzOCIsInVzZXJDb2RlIjoiam15b28ifSwibm9kZTUiOnsiZHNkIjoiMDAwMDAwMDAwMDAwMDAwMCIsImxvZ1RpbWUiOiIyMDI1LTA5LTA5VDAxOjA3OjI5WiIsInBJRCIgOiAyMDQ4LCJwcm9jZXNzSWQiOjYwNTYsInByb2Nlc3NOYW1lIjoiVW5QYWNrYWdlckJhdGNoLmV4ZSIsInRyYWNlSWQiOiIxODRENDI2RjZDNDVFNDRERTBFMTYwMENGMURGMDc3MCIsInVzZXJDb2RlIjoiIn0sIm5vZGVDb3VudCI6Miwicm9vdFRyYWNlSWQiOiIzM0UxNzM3NjE4RjA0RUJCOUMzNkY4QkNCQjk0RDAzOCJ9</vt:lpwstr>
  </property>
</Properties>
</file>